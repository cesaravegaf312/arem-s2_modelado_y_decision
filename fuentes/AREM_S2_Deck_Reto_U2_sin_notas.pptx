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MAESTRÍA · ESPACIO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Arquitectura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CFDAE0"/>
                </a:solidFill>
                <a:latin typeface="Cambria"/>
              </a:rPr>
              <a:t>Sesión 2 — Unidad 2 · Presentación del 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375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8FA5AF"/>
                </a:solidFill>
                <a:latin typeface="Calibri"/>
              </a:rPr>
              <a:t>Modelado formal y evaluación de alternativas: cómo se ve, y qué cuesta.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874519"/>
            <a:ext cx="2651760" cy="30175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0" y="2331720"/>
            <a:ext cx="2651760" cy="301752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2788920"/>
            <a:ext cx="2651760" cy="301752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0" y="3246120"/>
            <a:ext cx="2651760" cy="301752"/>
          </a:xfrm>
          <a:prstGeom prst="rect">
            <a:avLst/>
          </a:prstGeom>
          <a:solidFill>
            <a:srgbClr val="345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94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César Augusto Vega Fernández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875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FA5AF"/>
                </a:solidFill>
                <a:latin typeface="Calibri"/>
              </a:rPr>
              <a:t>Encuentro sincrónico · 2 horas · TOGAF® Standard, 10.ª edición · ArchiMate® 3.2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EL RETO DE LA UNIDAD 2 · ACTIVIDADES EN LA PLATAFORMA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Dos caminos defendibles, presupuesto para uno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931920" cy="3017520"/>
          </a:xfrm>
          <a:prstGeom prst="rect">
            <a:avLst/>
          </a:prstGeom>
          <a:solidFill>
            <a:srgbClr val="F6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33832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31424B"/>
                </a:solidFill>
                <a:latin typeface="Cambria"/>
              </a:rPr>
              <a:t>«Tienen razón, pero necesito ver cómo se ve, y necesito saber qué me cuesta.»</a:t>
            </a:r>
          </a:p>
          <a:p/>
          <a:p>
            <a:r>
              <a:rPr sz="1500" b="0">
                <a:solidFill>
                  <a:srgbClr val="31424B"/>
                </a:solidFill>
                <a:latin typeface="Cambria"/>
              </a:rPr>
              <a:t>Hay dos caminos sobre la mesa y cada área empuja el suyo. Uno es más rápido y compromete el futuro; el otro construye capacidad y no muestra resultados en el horizonte que la dirección espera.</a:t>
            </a:r>
          </a:p>
          <a:p/>
          <a:p>
            <a:r>
              <a:rPr sz="1400" b="0">
                <a:solidFill>
                  <a:srgbClr val="6B7A82"/>
                </a:solidFill>
                <a:latin typeface="Cambria"/>
              </a:rPr>
              <a:t>Gerencia de tecnología (CIO) · Red Salud Andina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645920"/>
            <a:ext cx="64008" cy="1051560"/>
          </a:xfrm>
          <a:prstGeom prst="rect">
            <a:avLst/>
          </a:prstGeom>
          <a:solidFill>
            <a:srgbClr val="345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10328" y="1645920"/>
            <a:ext cx="6595567" cy="105156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755648"/>
            <a:ext cx="62023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34535D"/>
                </a:solidFill>
                <a:latin typeface="Cambria"/>
              </a:rPr>
              <a:t>Actividad 2.1 · Presentación del reto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Individual · formativa, sin calificación.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Mapa mental o esquema visual de 1 página que relacione las capas de ArchiMate con los conceptos de la Unidad 1.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834639"/>
            <a:ext cx="64008" cy="182880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10328" y="2834639"/>
            <a:ext cx="6595567" cy="182880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944368"/>
            <a:ext cx="620237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C2622C"/>
                </a:solidFill>
                <a:latin typeface="Cambria"/>
              </a:rPr>
              <a:t>Actividad 2.2 · Modelado y evaluación de trade-offs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Grupal, de 3 a 4 integrantes · 30 % · 20 horas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Diagramas ArchiMate exportados como imágenes (PNG o PDF)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Informe de evaluación arquitectónica en PDF, de máximo 20 páginas, en APA 7</a:t>
            </a:r>
          </a:p>
          <a:p>
            <a:r>
              <a:rPr sz="1200" b="0">
                <a:solidFill>
                  <a:srgbClr val="31424B"/>
                </a:solidFill>
                <a:latin typeface="Calibri"/>
              </a:rPr>
              <a:t>Convivir con el legado 18 meses es un supuesto del reto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46320"/>
            <a:ext cx="10820095" cy="7772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01768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Rúbrica de la 2.2 (sobre 5,0): vistas ArchiMate 2,0 · evaluación ATAM / trade-offs 1,5 · estrategia de integración y deuda 1,0 · calidad documental 0,5.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Los </a:t>
            </a:r>
            <a:r>
              <a:rPr sz="1000" b="1">
                <a:solidFill>
                  <a:srgbClr val="6B7A82"/>
                </a:solidFill>
                <a:latin typeface="Calibri"/>
              </a:rPr>
              <a:t>F-nn</a:t>
            </a:r>
            <a:r>
              <a:rPr sz="1000" b="0">
                <a:solidFill>
                  <a:srgbClr val="6B7A82"/>
                </a:solidFill>
                <a:latin typeface="Calibri"/>
              </a:rPr>
              <a:t> son los formatos del curso —las plantillas que preparan cada sección—, con numeración continua entre sesiones: F-05 a F-12 fueron de la Unidad 1, F-13 a F-20 son los de esta y F-21 a F-28 serán los de la Unidad 3. No se suben a la plataforma. · Caso: Red Salud Andina, dossier §5 a §8, §12 y §15.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CÓMO VAMOS A USAR LAS DOS HORAS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Primero qué significa, después ejemplos, después ustedes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3454298" cy="7315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PRIMERO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C2B33"/>
                </a:solidFill>
                <a:latin typeface="Cambria"/>
              </a:rPr>
              <a:t>Significado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345429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1424B"/>
                </a:solidFill>
                <a:latin typeface="Calibri"/>
              </a:rPr>
              <a:t>Dónde se decide en el método, qué hace que una vista exista y en qué estado está el lenguaje con el que se dibuja.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737360"/>
            <a:ext cx="3454298" cy="73152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8698" y="192024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6707E"/>
                </a:solidFill>
                <a:latin typeface="Calibri"/>
              </a:rPr>
              <a:t>DESPUÉS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224028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C2B33"/>
                </a:solidFill>
                <a:latin typeface="Cambria"/>
              </a:rPr>
              <a:t>Ejemplos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2880360"/>
            <a:ext cx="345429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1424B"/>
                </a:solidFill>
                <a:latin typeface="Calibri"/>
              </a:rPr>
              <a:t>Los mismos formatos que ustedes van a llenar, recorridos paso a paso con Red Salud Andina y con las herramientas.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596" y="1737360"/>
            <a:ext cx="3454298" cy="73152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51596" y="1920240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E5C3B"/>
                </a:solidFill>
                <a:latin typeface="Calibri"/>
              </a:rPr>
              <a:t>Y EL RESTO DE LA SESIÓN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1596" y="224028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C2B33"/>
                </a:solidFill>
                <a:latin typeface="Cambria"/>
              </a:rPr>
              <a:t>El hacer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596" y="2880360"/>
            <a:ext cx="345429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1424B"/>
                </a:solidFill>
                <a:latin typeface="Calibri"/>
              </a:rPr>
              <a:t>El taller en salas sobre su propio caso: son las partes 1 y 2 de la Actividad 2.2, la puesta en común y el cierre.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80560"/>
            <a:ext cx="10820095" cy="86868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36008"/>
            <a:ext cx="10088575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El bloque que no se recorta es el tercero. Si los conceptos se alargan, se acortan los ejemplos: están todos en el repositorio para verlos después.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Una sola actividad en salas, de 30 minutos: el resto de la sesión es para llegar a ella sabiendo qué hacer.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DÓNDE SE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El ADM: representar es una fase, decidir es otra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66928" cy="78638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379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645920"/>
            <a:ext cx="10253167" cy="78638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755648"/>
            <a:ext cx="9814255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C2B33"/>
                </a:solidFill>
                <a:latin typeface="Calibri"/>
              </a:rPr>
              <a:t>Fase B · Negocio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Cerramos: el modelo operativo y las capacidades de la Unidad 1 dejan de ser hallazgos y se vuelven arquitectura representada.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42032"/>
            <a:ext cx="566928" cy="78638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542032"/>
            <a:ext cx="10253167" cy="78638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814255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C2B33"/>
                </a:solidFill>
                <a:latin typeface="Calibri"/>
              </a:rPr>
              <a:t>Fases C y D · Sistemas y tecnología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Desarrollamos: qué sistemas hay, qué información comparten, por dónde se hablan y sobre qué corren.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38144"/>
            <a:ext cx="566928" cy="78638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301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438144"/>
            <a:ext cx="10253167" cy="78638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547872"/>
            <a:ext cx="9814255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C2B33"/>
                </a:solidFill>
                <a:latin typeface="Calibri"/>
              </a:rPr>
              <a:t>Fase E · Oportunidades y soluciones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Aquí se decide: se comparan las opciones de solución y se elige, después del análisis de brechas.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34256"/>
            <a:ext cx="566928" cy="78638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4334256"/>
            <a:ext cx="10253167" cy="786384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443984"/>
            <a:ext cx="9814255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C2B33"/>
                </a:solidFill>
                <a:latin typeface="Calibri"/>
              </a:rPr>
              <a:t>Requisitos · transversal al ADM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Los escenarios de calidad son requisitos: se gestionan y se trazan en las tres fases, no son un anexo técnico.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248656"/>
            <a:ext cx="10820095" cy="73152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404104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F, G y H no son de esta unidad: la F es el roadmap (Unidad 4), la G y la H son gobierno (Unidad 3).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No es una cascada: se puede estar en la C y descubrir que algo de la B estaba incompleto. · La rueda del ADM, la misma de la Sesión 1: https://cesaravegaf312.github.io/AREM-S1_Marcos_y_Capacidades-repositorio/interactivos/togaf_adm_interactivo.html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EL ERROR QUE CUESTA CARO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La decisión no es de la Fase C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5295747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8308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Lo que hacen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12264"/>
            <a:ext cx="5295747" cy="223113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40280"/>
            <a:ext cx="496656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Ubican la decisión en la fase de aplicaciones y por eso la toman mientras dibujan.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El modelo termina justificando la opción que ya habían elegido: detalle exquisito en un camino, vacío en el otro.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91640"/>
            <a:ext cx="5295747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78308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Lo que exige el método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12264"/>
            <a:ext cx="5295747" cy="223113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240280"/>
            <a:ext cx="496656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Primero se dibuja lo que hay y lo que falta: fases B, C y D con su análisis de brechas.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Después, en la Fase E, se comparan las opciones de solución y se elige.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572000"/>
            <a:ext cx="10820095" cy="86868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727448"/>
            <a:ext cx="10088575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Dibujar y decidir son dos actos separados. Ese orden es lo único que impide usar el modelo para justificar una decisión ya tomada.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Cómo se nota en la calificación: si las alternativas aparecen antes del análisis de brechas, decidieron primero y dibujaron después.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QUÉ HACE QUE UNA VISTA EXISTA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Interés, vista y punto de vista: la definición del estándar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454298" cy="5486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312511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mbria"/>
              </a:rPr>
              <a:t>Interés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3454298" cy="26974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322576"/>
            <a:ext cx="3125114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6B7A82"/>
                </a:solidFill>
                <a:latin typeface="Calibri"/>
              </a:rPr>
              <a:t>CONCERN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1424B"/>
                </a:solidFill>
                <a:latin typeface="Calibri"/>
              </a:rPr>
              <a:t>Un interés de un actor relevante frente al sistema.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7A82"/>
                </a:solidFill>
                <a:latin typeface="Calibri"/>
              </a:rPr>
              <a:t>«Que la atención no se interrumpa durante la migración.»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645920"/>
            <a:ext cx="3454298" cy="548640"/>
          </a:xfrm>
          <a:prstGeom prst="rect">
            <a:avLst/>
          </a:prstGeom>
          <a:solidFill>
            <a:srgbClr val="345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290" y="1737360"/>
            <a:ext cx="312511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mbria"/>
              </a:rPr>
              <a:t>Vista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194560"/>
            <a:ext cx="3454298" cy="26974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3290" y="2322576"/>
            <a:ext cx="3125114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6B7A82"/>
                </a:solidFill>
                <a:latin typeface="Calibri"/>
              </a:rPr>
              <a:t>ARCHITECTURE VIEW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1424B"/>
                </a:solidFill>
                <a:latin typeface="Calibri"/>
              </a:rPr>
              <a:t>Una representación del sistema desde la perspectiva de un conjunto de esos intereses.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7A82"/>
                </a:solidFill>
                <a:latin typeface="Calibri"/>
              </a:rPr>
              <a:t>«Qué aplicaciones quedan huérfanas si apagamos HIS-NORTE.»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596" y="1645920"/>
            <a:ext cx="3454298" cy="548640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6188" y="1737360"/>
            <a:ext cx="312511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Cambria"/>
              </a:rPr>
              <a:t>Punto de vista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1596" y="2194560"/>
            <a:ext cx="3454298" cy="26974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6188" y="2322576"/>
            <a:ext cx="3125114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6B7A82"/>
                </a:solidFill>
                <a:latin typeface="Calibri"/>
              </a:rPr>
              <a:t>ARCHITECTURE VIEWPOINT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1424B"/>
                </a:solidFill>
                <a:latin typeface="Calibri"/>
              </a:rPr>
              <a:t>La especificación de las convenciones con las que se construye e interpreta esa vista.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7A82"/>
                </a:solidFill>
                <a:latin typeface="Calibri"/>
              </a:rPr>
              <a:t>«Capacidades y servicios; nada de nodos ni artefactos.»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029200"/>
            <a:ext cx="10820095" cy="8229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18464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Si una vista es una representación desde la perspectiva de un interés, una representación sin interés detrás no es una vista: es decoración.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ISO/IEC/IEEE 42010:2022, adoptada por TOGAF 10. · Antes de abrir la herramienta: ¿quién mira esto, qué le preocupa y qué va a decidir después de verlo?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CRITERIO DE ADMISIÓN AL INFORME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Vista rechazada y vista admitida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2377438" cy="64008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3063240" y="1554480"/>
            <a:ext cx="4206238" cy="64008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1609344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Rechazada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1554480"/>
            <a:ext cx="4233670" cy="64008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609344"/>
            <a:ext cx="40507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Admitida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2377438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942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1424B"/>
                </a:solidFill>
                <a:latin typeface="Calibri"/>
              </a:rPr>
              <a:t>Nombre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194560"/>
            <a:ext cx="4206238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249424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8A3A2A"/>
                </a:solidFill>
                <a:latin typeface="Calibri"/>
              </a:rPr>
              <a:t>«Vista de aplicaciones»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2194560"/>
            <a:ext cx="4233670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249424"/>
            <a:ext cx="4050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F5A3A"/>
                </a:solidFill>
                <a:latin typeface="Calibri"/>
              </a:rPr>
              <a:t>«Qué aplicaciones quedan huérfanas si apagamos HIS-NORTE»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834640"/>
            <a:ext cx="2377438" cy="64007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8950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1424B"/>
                </a:solidFill>
                <a:latin typeface="Calibri"/>
              </a:rPr>
              <a:t>Actor e interés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2834640"/>
            <a:ext cx="4206238" cy="64007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889504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8A3A2A"/>
                </a:solidFill>
                <a:latin typeface="Calibri"/>
              </a:rPr>
              <a:t>Actor: — · Interés: 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2834640"/>
            <a:ext cx="4233670" cy="64007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2889504"/>
            <a:ext cx="4050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F5A3A"/>
                </a:solidFill>
                <a:latin typeface="Calibri"/>
              </a:rPr>
              <a:t>Actor: comité de inversión · Interés: que la atención no se interrumpa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474720"/>
            <a:ext cx="2377438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2958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1424B"/>
                </a:solidFill>
                <a:latin typeface="Calibri"/>
              </a:rPr>
              <a:t>Decisión que habilita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3474720"/>
            <a:ext cx="4206238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3529584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8A3A2A"/>
                </a:solidFill>
                <a:latin typeface="Calibri"/>
              </a:rPr>
              <a:t>Ninguna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3474720"/>
            <a:ext cx="4233670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3529584"/>
            <a:ext cx="4050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F5A3A"/>
                </a:solidFill>
                <a:latin typeface="Calibri"/>
              </a:rPr>
              <a:t>Alcance y orden de la migración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224528"/>
            <a:ext cx="2377438" cy="34747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7939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Las cuatro vistas del informe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4224528"/>
            <a:ext cx="8439910" cy="34747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4279392"/>
            <a:ext cx="82570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Para qué existe cada una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572000"/>
            <a:ext cx="2377438" cy="34747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62686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Motivación y estrategia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4572000"/>
            <a:ext cx="8439910" cy="34747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4626864"/>
            <a:ext cx="8257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Quién empuja el cambio y qué resultado espera.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919472"/>
            <a:ext cx="2377438" cy="34747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9743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Negocio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4919472"/>
            <a:ext cx="8439910" cy="34747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80" y="4974336"/>
            <a:ext cx="8257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Qué procesos toca la decisión y quién los opera.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266944"/>
            <a:ext cx="2377438" cy="34747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32180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Aplicación con tecnología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63240" y="5266944"/>
            <a:ext cx="8439910" cy="34747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54680" y="5321808"/>
            <a:ext cx="8257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Dónde está la costura: aquí se comparan las dos alternativas.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5614416"/>
            <a:ext cx="2377438" cy="34747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66928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31424B"/>
                </a:solidFill>
                <a:latin typeface="Calibri"/>
              </a:rPr>
              <a:t>Implementación y migración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40" y="5614416"/>
            <a:ext cx="8439910" cy="34747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4680" y="5669280"/>
            <a:ext cx="82570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31424B"/>
                </a:solidFill>
                <a:latin typeface="Calibri"/>
              </a:rPr>
              <a:t>Paquetes de trabajo, entregables y plateaus: el camino, no solo el destino.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A82"/>
                </a:solidFill>
                <a:latin typeface="Calibri"/>
              </a:rPr>
              <a:t>Una vista útil es una vista que, si la borran, deja una decisión sin sustento.</a:t>
            </a:r>
            <a:r>
              <a:rPr sz="1000" b="0">
                <a:solidFill>
                  <a:srgbClr val="6B7A82"/>
                </a:solidFill>
                <a:latin typeface="Calibri"/>
              </a:rPr>
              <a:t> · Prohibido nombrar una vista «vista de negocio»: eso no es un nombre, es una categoría.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CORRESPONDENCIA, NO EQUIVALENCIA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Las capas de ArchiMate no son las capas del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5295747" cy="420624"/>
          </a:xfrm>
          <a:prstGeom prst="rect">
            <a:avLst/>
          </a:prstGeom>
          <a:solidFill>
            <a:srgbClr val="345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8308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Las cuatro capas del curso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12264"/>
            <a:ext cx="5295747" cy="209397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40280"/>
            <a:ext cx="49665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Negocio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Aplicaciones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Datos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Tecnología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91640"/>
            <a:ext cx="5295747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78308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Las capas de ArchiMate 3.2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12264"/>
            <a:ext cx="5295747" cy="209397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240280"/>
            <a:ext cx="49665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Motivación · Estrategia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Negocio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Aplicación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Tecnología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Implementación y migración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434840"/>
            <a:ext cx="10820095" cy="86868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90288"/>
            <a:ext cx="10088575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Los datos no son una capa en ArchiMate: los objetos de datos viven en la capa de aplicación. Traducir mecánicamente deja la motivación y la estrategia sin representar, que son justo la primera vista que pide la rúbrica.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La capa de implementación y migración es la cuarta vista que exige el entregable: paquetes de trabajo, entregables y plateaus. Un comité no aprueba un destino, aprueba un camino.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BLOQUE 1 · EL ESTADO DEL IDIOMA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El estándar se movió el 27 de abril de 2026, y la herramienta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394958" cy="5486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5506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ArchiMate 3.2 · octubre de 2022 · lo que implementa Archi 5.10 · 3 sep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600200"/>
            <a:ext cx="5422390" cy="5486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655064"/>
            <a:ext cx="52395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ArchiMate 4 · 27 de abril de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5394958" cy="5486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0370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Un poco más de 60 conceptos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148840"/>
            <a:ext cx="5422390" cy="5486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20370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40 conceptos: una poda cercana al 30 %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97480"/>
            <a:ext cx="5394958" cy="5486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5234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Capas, en forma de pastel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97480"/>
            <a:ext cx="5422390" cy="5486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7523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Dominios y un dominio común, en hexágono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46120"/>
            <a:ext cx="5394958" cy="5486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0098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Proceso de negocio, de aplicación y de tecnología, separados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246120"/>
            <a:ext cx="5422390" cy="54863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30098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Un único concepto de 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94760"/>
            <a:ext cx="5394958" cy="5486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4962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Relaciones sin multiplicidad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794760"/>
            <a:ext cx="5422390" cy="548638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84962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Multiplicidad: «todo servicio realizado por al menos un proceso»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434840"/>
            <a:ext cx="10820095" cy="86868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590288"/>
            <a:ext cx="10088575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La decisión del curso: se entrega en 3.2, porque es lo que soporta la herramienta, y se declara en una línea en la sección de método. La estructura profunda no cambió —activo, comportamiento, pasivo—, así que lo que aprenden hoy no se pierde.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76672"/>
            <a:ext cx="10820095" cy="62179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532120"/>
            <a:ext cx="1008857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¿Modelar en 3.2 cuando el estándar publicado es 4 es deuda arquitectónica? Sí, y es legítima. Lo que la vuelve peligrosa no es existir: es no estar declarada.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Fuentes primarias verificadas en septiembre de 2026: The Open Group, ArchiMate 4 Specification (C260), y el historial de versiones de Archi.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LA ACTIVIDAD 2.1, GUIADA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Un mapa mental de una página, individual y sin nota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295747" cy="457200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91640"/>
            <a:ext cx="496656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Qué tiene que mostrar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5295747" cy="182880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85416"/>
            <a:ext cx="4966563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La correspondencia entre las capas de ArchiMate y los conceptos de la Unidad 1: modelo operativo, capacidades y brechas.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6B7A82"/>
                </a:solidFill>
                <a:latin typeface="Calibri"/>
              </a:rPr>
              <a:t>Así no: la lista de las capas de ArchiMate copiada del estándar. Eso es un resumen, no una correspondencia.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00200"/>
            <a:ext cx="5295747" cy="45720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691640"/>
            <a:ext cx="496656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Una relación resuelta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57400"/>
            <a:ext cx="5295747" cy="182880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185416"/>
            <a:ext cx="4966563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31424B"/>
                </a:solidFill>
                <a:latin typeface="Calibri"/>
              </a:rPr>
              <a:t>Capacidad de la Unidad 1</a:t>
            </a:r>
            <a:r>
              <a:rPr sz="1250" b="0">
                <a:solidFill>
                  <a:srgbClr val="31424B"/>
                </a:solidFill>
                <a:latin typeface="Calibri"/>
              </a:rPr>
              <a:t> → en ArchiMate se representa como capacidad (estrategia) y se realiza con servicios de aplicación.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6B7A82"/>
                </a:solidFill>
                <a:latin typeface="Calibri"/>
              </a:rPr>
              <a:t>Lo que se evalúa es que la flecha diga por qué, no que el diagrama sea bonito.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114800"/>
            <a:ext cx="2377438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6966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Qué entregan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4114800"/>
            <a:ext cx="4206238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416966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Con qué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4114800"/>
            <a:ext cx="4233670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169664"/>
            <a:ext cx="4050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Cuándo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80560"/>
            <a:ext cx="2377438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3542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1 página, individual, sin nota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4480560"/>
            <a:ext cx="4206238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4535424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Las capas de la diapositiva anterior y el ArchiMate 3.2 Interactivo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4480560"/>
            <a:ext cx="4233670" cy="640078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4535424"/>
            <a:ext cx="4050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Fuera de clase, antes de la Unidad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349240"/>
            <a:ext cx="10820095" cy="566928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504688"/>
            <a:ext cx="1008857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Pausa de cuatro minutos. Al regresar empiezan los ejemplos guiados de la 2.2.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El F-19 es la pauta con la que el docente retroalimenta esta actividad; no se entrega.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EJEMPLO GUIADO 1 · EL LENGUAJE, EN LA HERRAMIENTA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Recorrido por ArchiMate 3.2: elegir el elemento correcto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013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600200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709928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Motivación · metas, impulsores, principios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70 % de clientes digitales activos · reducir el costo por transacción 30 % · una circular del regulador · el principio API-First. Un principio sirve cuando restringe: si toda alternativa lo cumple, está escrito muy general.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05456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505456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615184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Negocio · actores, roles, objetos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Cliente Persona Natural es el actor; Titular de Cuenta, el rol que asume. El objeto de negocio significa algo aunque cambie la aplicación que lo guarda.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10712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410712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Tecnología · nodos, servicios, artefactos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Core T24 · clúster de Kubernetes · tópicos de Kafka. El límite es el servicio de tecnología, no la configuración: no van las réplicas de un pod.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15968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71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4315968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425696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Relaciones · lo que hace al lenguaje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Realización, asignación, composición. La asociación es la relación de último recurso: un modelo lleno de asociaciones no decidió nada.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212080"/>
            <a:ext cx="10820095" cy="7772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67528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¿Esto actúa, esto ocurre, o sobre esto se actúa? Activo, comportamiento y pasivo resuelven el 90 % de las dudas. Y sobreviven intactos en la versión 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La herramienta abre con Banco Colombia Digital —el caso de alcance de la Sesión 1— y arriba trae el selector para cambiar a Red Salud Andina: https://cesaravegaf312.github.io/AREM-S2_Modelado_y_Decision/interactivos/archimate_interactivo.html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EJEMPLO GUIADO 2 · F-13, CAMPO POR CAMPO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Así espero cada vista del informe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2880358" cy="38404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Campo del F-13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554480"/>
            <a:ext cx="7936990" cy="38404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09344"/>
            <a:ext cx="77541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La vista de aplicación de Red Salud Andina, resuelta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2880358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Stakeholder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938528"/>
            <a:ext cx="7936990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93392"/>
            <a:ext cx="7754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Comité de inversión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22576"/>
            <a:ext cx="2880358" cy="38404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Interés (concern)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322576"/>
            <a:ext cx="7936990" cy="38404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377440"/>
            <a:ext cx="7754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Que la atención no se interrumpa durante la migración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706624"/>
            <a:ext cx="2880358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61488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Punto de vista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706624"/>
            <a:ext cx="7936990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761488"/>
            <a:ext cx="7754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Aplicaciones y sus dependencias de datos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090672"/>
            <a:ext cx="2880358" cy="38404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45536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Nombre de la vista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3090672"/>
            <a:ext cx="7936990" cy="38404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145536"/>
            <a:ext cx="7754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Qué aplicaciones quedan huérfanas si apagamos HIS-NORTE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474720"/>
            <a:ext cx="2880358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29584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Fase del ADM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474720"/>
            <a:ext cx="7936990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529584"/>
            <a:ext cx="7754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C · datos y aplicaciones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858768"/>
            <a:ext cx="2880358" cy="38404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91363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Capa o dominio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858768"/>
            <a:ext cx="7936990" cy="38404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913632"/>
            <a:ext cx="7754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Aplicación, con los objetos de datos que consume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242816"/>
            <a:ext cx="2880358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297680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ABB (al menos 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242816"/>
            <a:ext cx="7936990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4297680"/>
            <a:ext cx="7754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Historia clínica · agenda · facturación · laboratorio · índice de pacientes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626864"/>
            <a:ext cx="2880358" cy="38404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681728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Decisión que habilita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626864"/>
            <a:ext cx="7936990" cy="38404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4681728"/>
            <a:ext cx="7754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Alcance y orden de la migración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010912"/>
            <a:ext cx="2880358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065776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Supuestos declarados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5010912"/>
            <a:ext cx="7936990" cy="38404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5065776"/>
            <a:ext cx="77541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El laboratorio B2B no consume la historia clínica (sin verificar · F-12)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5486400"/>
            <a:ext cx="10820095" cy="50292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641848"/>
            <a:ext cx="100885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Los elementos se nombran como bloques de arquitectura (ABB) —«motor de reglas de identidad»—, no con el nombre comercial del producto, que es un SBB y se elige en la Fase 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Los supuestos declarados salen de la rejilla de vacíos documentales (F-12) que llenaron en la Sesión 1. Un supuesto escrito es trabajo profesional; uno no escrito es un error que nadie ha visto.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EJEMPLO GUIADO 3 · DÓNDE VIVE LA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Por qué la vista de aplicación no alcanza: los cuatro niveles del C4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013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600200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709928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Nivel 1 · Contexto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Las 2 alternativas se ven iguales: el paciente ve lo mismo. Aprobar aquí es aprobar sin entender qué se aprobó.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05456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505456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615184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Nivel 2 · Contenedor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Aquí vive la decisión: qué contenedor nuevo aparece y cómo habla con los que ya estaban. Aquí se dibujan las 2 alternativas, una al lado de la otra.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10712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410712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Nivel 3 · Componente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Aquí se paga: guarda de idempotencia, publicador de eventos de atención, adaptador de cada sistema asistencial, instrumentación.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15968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71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4315968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425696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Nivel 4 · Código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Fuera del alcance de la arquitectura empresarial. No va en el informe.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212080"/>
            <a:ext cx="10820095" cy="7772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67528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Las decisiones se toman en el nivel 2 y se pagan en el nivel 3. Si deciden sin bajar al 3, no saben qué firmaron.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C4 es de Simon Brown y se usa como zoom, no como entregable: el entregable es ArchiMate, y los dos idiomas no se mezclan en un diagrama. La herramienta: https://cesaravegaf312.github.io/AREM-S2_Modelado_y_Decision/interactivos/c4_model_interactivo.html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EJEMPLO GUIADO 4 · F-16, LAS DOS ALTERNATIVAS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Dibujadas al mismo nivel, y con el riesgo que cada una trae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295747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A · Capa de integración con índice maestro de pacientes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66544"/>
            <a:ext cx="5295747" cy="277977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94560"/>
            <a:ext cx="4966563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Aparece un contenedor nuevo. Los 2 sistemas de historia clínica siguen existiendo y le consultan quién es quién.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6B7A82"/>
                </a:solidFill>
                <a:latin typeface="Calibri"/>
              </a:rPr>
              <a:t>RIESGO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Si el umbral de emparejamiento del índice maestro queda mal calibrado, aparecen historias mezcladas o duplicadas: pone en riesgo el escenario de rendimiento y la promesa de historia única.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7A82"/>
                </a:solidFill>
                <a:latin typeface="Calibri"/>
              </a:rPr>
              <a:t>Riesgo de arquitectura: una pieza de la que todo depende. Se atiende con un escenario de disponibilidad.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45920"/>
            <a:ext cx="5295747" cy="420624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73736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B · Consolidación en un solo sistema asistencial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66544"/>
            <a:ext cx="5295747" cy="277977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194560"/>
            <a:ext cx="4966563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No aparece contenedor nuevo. Desaparecen las 6 instalaciones de HIS-NORTE.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6B7A82"/>
                </a:solidFill>
                <a:latin typeface="Calibri"/>
              </a:rPr>
              <a:t>RIESGO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6 sedes en operación migradas una por una, con 2 personas que conocen el sistema destino: pone en riesgo la continuidad de la atención.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7A82"/>
                </a:solidFill>
                <a:latin typeface="Calibri"/>
              </a:rPr>
              <a:t>Riesgo de proyecto: 6 sedes en operación tocadas una por una. Se atiende de otra manera.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983480"/>
            <a:ext cx="10820095" cy="8229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13892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Punto de sensibilidad: cuánto dura la convivencia de los 2 sistemas asistenciales. Presupuestada a 18 meses gana la A; si la convivencia se estira a 30, gana la B. Cuando un supuesto tiene ese poder, se declara.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Las dos alternativas son las del dossier, §15. · Prueba de viabilidad de la que se descarta: La consolidación sería la mejor si la autoridad sanitaria exigiera un registro único con trazabilidad que una capa de integración no garantiza.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EJEMPLO GUIADO 5 · F-14, LOS SEIS CAMPOS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Un escenario de calidad, construido campo por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2971798" cy="47548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Campo (ATAM)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554480"/>
            <a:ext cx="7845550" cy="475488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609344"/>
            <a:ext cx="76626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Qué se escribe ahí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29968"/>
            <a:ext cx="2971798" cy="47548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Fuente del estímulo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029968"/>
            <a:ext cx="7845550" cy="47548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084832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Quién o qué origina el evento.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05456"/>
            <a:ext cx="2971798" cy="47548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6032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Estímulo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505456"/>
            <a:ext cx="7845550" cy="47548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560320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Qué ocurre exactamente.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80944"/>
            <a:ext cx="2971798" cy="47548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3580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Artefacto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980944"/>
            <a:ext cx="7845550" cy="47548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3035808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Sobre qué parte del sistema ocurre.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56432"/>
            <a:ext cx="2971798" cy="47548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11296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Entorno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456432"/>
            <a:ext cx="7845550" cy="47548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3511296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En qué condiciones. La palabra clave es «pico»: los sistemas no fallan en promedio.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931920"/>
            <a:ext cx="2971798" cy="47548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8678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Respuesta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931920"/>
            <a:ext cx="7845550" cy="47548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3986784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Qué debe hacer el sistema.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407408"/>
            <a:ext cx="2971798" cy="47548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6227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1424B"/>
                </a:solidFill>
                <a:latin typeface="Calibri"/>
              </a:rPr>
              <a:t>Medida de respuesta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407408"/>
            <a:ext cx="7845550" cy="47548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4462272"/>
            <a:ext cx="76626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31424B"/>
                </a:solidFill>
                <a:latin typeface="Calibri"/>
              </a:rPr>
              <a:t>Con qué número se verifica que lo hizo.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992624"/>
            <a:ext cx="10820095" cy="91440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148072"/>
            <a:ext cx="100885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Y dos campos más que exige el curso: el umbral, aprobado por alguien de negocio —si nadie lo confirmó, se declara como supuesto—, y cómo se verifica automáticamente. «El sistema debe ser rápido» no se puede verificar, no se puede incumplir y por lo tanto no obliga a nada.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El método es ATAM, de Kazman, Klein y Clements (2000), del Software Engineering Institute.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EJEMPLO GUIADO 6 · LOS TRES OBLIGATORIOS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Tres escenarios de Red Salud Andina, con medida y con verificación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3454298" cy="475488"/>
          </a:xfrm>
          <a:prstGeom prst="rect">
            <a:avLst/>
          </a:prstGeom>
          <a:solidFill>
            <a:srgbClr val="3453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91640"/>
            <a:ext cx="312511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mbria"/>
              </a:rPr>
              <a:t>Disponibilidad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75688"/>
            <a:ext cx="3454298" cy="26334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03704"/>
            <a:ext cx="3125114" cy="2368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6B7A82"/>
                </a:solidFill>
                <a:latin typeface="Calibri"/>
              </a:rPr>
              <a:t>MARTES, 10 A.M., PICO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HIS-NORTE deja de responder en plena consulta externa en una de las 6 sedes adquiridas.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Cero atenciones perdidas: se acepta en modo degradado y se concilia en ≤ 15 min.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7A82"/>
                </a:solidFill>
                <a:latin typeface="Calibri"/>
              </a:rPr>
              <a:t>Verificación: Prueba de caos programada sobre el adaptador.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600200"/>
            <a:ext cx="3454298" cy="475488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290" y="1691640"/>
            <a:ext cx="312511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mbria"/>
              </a:rPr>
              <a:t>Rendimiento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2075688"/>
            <a:ext cx="3454298" cy="26334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3290" y="2203704"/>
            <a:ext cx="3125114" cy="2368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6B7A82"/>
                </a:solidFill>
                <a:latin typeface="Calibri"/>
              </a:rPr>
              <a:t>300 CONSULTAS CONCURRENTES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Un médico tratante consulta la historia unificada de un paciente con atenciones en 6 sedes.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p95 ≤ 1,5 s. Percentil, no promedio: el promedio esconde los casos que hacen abandonar el sistema.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7A82"/>
                </a:solidFill>
                <a:latin typeface="Calibri"/>
              </a:rPr>
              <a:t>Verificación: Traza distribuida, percentil por endpoint.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596" y="1600200"/>
            <a:ext cx="3454298" cy="475488"/>
          </a:xfrm>
          <a:prstGeom prst="rect">
            <a:avLst/>
          </a:prstGeom>
          <a:solidFill>
            <a:srgbClr val="9E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6188" y="1691640"/>
            <a:ext cx="312511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mbria"/>
              </a:rPr>
              <a:t>Evolubilidad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1596" y="2075688"/>
            <a:ext cx="3454298" cy="26334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6188" y="2203704"/>
            <a:ext cx="3125114" cy="2368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6B7A82"/>
                </a:solidFill>
                <a:latin typeface="Calibri"/>
              </a:rPr>
              <a:t>SEDE NUEVA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Una sede cambia el esquema de su evento de atención.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Ningún consumidor requiere despliegue: contrato versionado y compatible hacia atrás.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7A82"/>
                </a:solidFill>
                <a:latin typeface="Calibri"/>
              </a:rPr>
              <a:t>Verificación: Validación del contrato en la tubería de integración.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46320"/>
            <a:ext cx="10820095" cy="8229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0176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Y dos que hace diez años no se escribían, que se suman a los tres: </a:t>
            </a:r>
            <a:r>
              <a:rPr sz="1500" b="1">
                <a:solidFill>
                  <a:srgbClr val="FFFFFF"/>
                </a:solidFill>
                <a:latin typeface="Cambria"/>
              </a:rPr>
              <a:t>costo de operación</a:t>
            </a:r>
            <a:r>
              <a:rPr sz="1500" b="0">
                <a:solidFill>
                  <a:srgbClr val="FFFFFF"/>
                </a:solidFill>
                <a:latin typeface="Cambria"/>
              </a:rPr>
              <a:t> · </a:t>
            </a:r>
            <a:r>
              <a:rPr sz="1500" b="1">
                <a:solidFill>
                  <a:srgbClr val="FFFFFF"/>
                </a:solidFill>
                <a:latin typeface="Cambria"/>
              </a:rPr>
              <a:t>componente de inteligencia artificial</a:t>
            </a:r>
            <a:r>
              <a:rPr sz="1500" b="0">
                <a:solidFill>
                  <a:srgbClr val="FFFFFF"/>
                </a:solidFill>
                <a:latin typeface="Cambria"/>
              </a:rPr>
              <a:t>. Un componente no determinista sin conjunto de evaluación y sin ruta de degradación no es una decisión: es una apuesta.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Los tres atributos son obligatorios en la 2.2; tres escenarios de rendimiento son un solo escenario repetido. Colgados de su atributo y con la doble valoración forman el árbol de utilidad, que es el F-15 y se llena fuera de clase.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EJEMPLO GUIADO 7 · CONSTRUIR O CONSUMIR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La posición evolutiva descarta alternativas sin discutir gustos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013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600200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709928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Génesis · IA agéntica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No existe producto: quien la necesita la construye. Y por eso su escenario de calidad tiene que ser más exigente que el de cualquier otro componente.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05456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505456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615184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A medida · Experiencia de usuario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Aquí es donde la organización compite. Se construye, y se le dedica el mejor equipo.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10712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410712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Producto · Bus de integración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Hay alternativas maduras y comparables. Se compra o se consume.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15968"/>
            <a:ext cx="566928" cy="80467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171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4315968"/>
            <a:ext cx="10253167" cy="80467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425696"/>
            <a:ext cx="98142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1C2B33"/>
                </a:solidFill>
                <a:latin typeface="Calibri"/>
              </a:rPr>
              <a:t>Commodity · Autenticación / IAM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1424B"/>
                </a:solidFill>
                <a:latin typeface="Calibri"/>
              </a:rPr>
              <a:t>Nadie atiende mejor a un paciente por tener identidades propias. Construirlo es quemar presupuesto en algo que no diferencia.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212080"/>
            <a:ext cx="10820095" cy="77724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67528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Si una alternativa propone construir un componente que ya es commodity, se descarta por posición: no por gusto, y no por jerarquía, que es como se estaba resolviendo la discusión del caso.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El mapa se mueve —lo que hoy es producto mañana es commodity—, así que una decisión lleva fecha de revisión; y la inercia (contratos, licencias, gente formada) también es parte de la decisión. La herramienta: https://cesaravegaf312.github.io/AREM-S2_Modelado_y_Decision/interactivos/wardley_map_interactivo.html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EJEMPLO GUIADO 8 · F-17 Y F-18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La costura que se elige, y la deuda que deja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36192"/>
            <a:ext cx="2194558" cy="43891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Patrón (F-17)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536192"/>
            <a:ext cx="2651758" cy="43891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591056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Contrato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1536192"/>
            <a:ext cx="5971030" cy="43891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591056"/>
            <a:ext cx="57881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Lo que cuesta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75104"/>
            <a:ext cx="2194558" cy="43891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API síncrona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75104"/>
            <a:ext cx="2651758" cy="43891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02996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Contrato OpenAPI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975104"/>
            <a:ext cx="5971030" cy="43891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029968"/>
            <a:ext cx="57881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Acoplamiento temporal: si el otro no responde, usted tampoco. Idempotencia por clave.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414016"/>
            <a:ext cx="2194558" cy="43891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688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Mensajería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414016"/>
            <a:ext cx="2651758" cy="43891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2468880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Cola + outbox transaccional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2414016"/>
            <a:ext cx="5971030" cy="43891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2468880"/>
            <a:ext cx="57881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Desacopla en el tiempo; se paga con entrega «al menos una vez», y por eso la idempotencia deja de ser opcional.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852928"/>
            <a:ext cx="2194558" cy="43891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907792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Eventos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852928"/>
            <a:ext cx="2651758" cy="43891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2907792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Streaming + contrato AsyncAPI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2852928"/>
            <a:ext cx="5971030" cy="43891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2907792"/>
            <a:ext cx="57881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Desacopla al emisor de sus consumidores; se paga con esquema versionado en un registro y con orden garantizado solo por partición.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291840"/>
            <a:ext cx="2194558" cy="43891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346704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Capa de agentes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3291840"/>
            <a:ext cx="2651758" cy="43891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3346704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Herramientas como contrato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3291840"/>
            <a:ext cx="5971030" cy="43891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60" y="3346704"/>
            <a:ext cx="57881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Quien consume no es un sistema sino un agente: límite de autoridad explícito y auditoría de cada invocación.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822191"/>
            <a:ext cx="2194558" cy="420624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877055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Deuda (F-18)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3822191"/>
            <a:ext cx="8622790" cy="420624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3877055"/>
            <a:ext cx="84399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La conciliación manual de identidades de paciente, en el caso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42815"/>
            <a:ext cx="2194558" cy="420622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29767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Principal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4242815"/>
            <a:ext cx="8622790" cy="420622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1800" y="4297679"/>
            <a:ext cx="84399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La conciliación de identidades de paciente se hace manualmente. Es la brecha que se decidió no cerrar.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4663439"/>
            <a:ext cx="2194558" cy="420622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718303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Interés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60" y="4663439"/>
            <a:ext cx="8622790" cy="420622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1800" y="4718303"/>
            <a:ext cx="84399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120 horas-persona al mes en admisiones, más el riesgo clínico de un duplicado. Sin cifra no hay argumento para pagarla.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5084063"/>
            <a:ext cx="2194558" cy="420622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138927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Vencimiento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5084063"/>
            <a:ext cx="8622790" cy="420622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5138927"/>
            <a:ext cx="84399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El mes en que el interés acumulado supera el principal. A partir de ahí, no pagarla es peor.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5577840"/>
            <a:ext cx="10820095" cy="43891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733288"/>
            <a:ext cx="10088575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Tres estrategias, y solo tres: pagarla, refinanciarla, declararla.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A82"/>
                </a:solidFill>
                <a:latin typeface="Calibri"/>
              </a:rPr>
              <a:t>Pagarla</a:t>
            </a:r>
            <a:r>
              <a:rPr sz="1000" b="0">
                <a:solidFill>
                  <a:srgbClr val="6B7A82"/>
                </a:solidFill>
                <a:latin typeface="Calibri"/>
              </a:rPr>
              <a:t>: se cierra la brecha en esta iteración · </a:t>
            </a:r>
            <a:r>
              <a:rPr sz="1000" b="1">
                <a:solidFill>
                  <a:srgbClr val="6B7A82"/>
                </a:solidFill>
                <a:latin typeface="Calibri"/>
              </a:rPr>
              <a:t>Refinanciarla</a:t>
            </a:r>
            <a:r>
              <a:rPr sz="1000" b="0">
                <a:solidFill>
                  <a:srgbClr val="6B7A82"/>
                </a:solidFill>
                <a:latin typeface="Calibri"/>
              </a:rPr>
              <a:t>: aislarla detrás de un adaptador para que no se propague · </a:t>
            </a:r>
            <a:r>
              <a:rPr sz="1000" b="1">
                <a:solidFill>
                  <a:srgbClr val="6B7A82"/>
                </a:solidFill>
                <a:latin typeface="Calibri"/>
              </a:rPr>
              <a:t>Declararla</a:t>
            </a:r>
            <a:r>
              <a:rPr sz="1000" b="0">
                <a:solidFill>
                  <a:srgbClr val="6B7A82"/>
                </a:solidFill>
                <a:latin typeface="Calibri"/>
              </a:rPr>
              <a:t>: y presupuestar el interés. La rúbrica pide al menos dos. · No se elige el patrón más moderno: se elige el que sostiene los escenarios declarados, y los dos formatos se llenan fuera de clase: valen 1,0 de los 5,0.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EL HACER · TALLER EN SALAS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Las partes 1 y 2 de la Actividad 2.2, sobre su propio caso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66928" cy="89611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0136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554480"/>
            <a:ext cx="10253167" cy="89611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664208"/>
            <a:ext cx="981425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Parte 1 · las cuatro vistas (F-13)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Una por familia, con la fila completa: stakeholder, interés, punto de vista, nombre, fase, capa, 5 ABB o más, decisión y supuestos. No dibujen: 15 minutos no alcanzan, y dibujar antes de decidir obliga a dibujar dos veces.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42032"/>
            <a:ext cx="566928" cy="89611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542032"/>
            <a:ext cx="10253167" cy="89611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81425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Parte 1 · la costura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Sobre la vista de aplicación, el punto exacto donde sus dos caminos difieren. Denle un nombre. No va encima del sistema heredado: va en lo que ustedes construyen alrededor.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29584"/>
            <a:ext cx="566928" cy="89611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764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529584"/>
            <a:ext cx="10253167" cy="89611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639312"/>
            <a:ext cx="981425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Parte 2 · tres escenarios (F-14)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Uno de disponibilidad, uno de rendimiento y uno de evolubilidad, con los seis campos, la medida, el umbral y cómo se verifica.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17136"/>
            <a:ext cx="566928" cy="896112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640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2728" y="4517136"/>
            <a:ext cx="10253167" cy="896112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626864"/>
            <a:ext cx="981425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C2B33"/>
                </a:solidFill>
                <a:latin typeface="Calibri"/>
              </a:rPr>
              <a:t>Parte 2 · alternativas y renuncia (F-16)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31424B"/>
                </a:solidFill>
                <a:latin typeface="Calibri"/>
              </a:rPr>
              <a:t>Las dos alternativas en una frase cada una, con sus riesgos, su punto de sensibilidad y la prueba de viabilidad de la que descartan. Y la renuncia: qué pierden, cuánto vale y a quién le duele.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504688"/>
            <a:ext cx="10820095" cy="493776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660136"/>
            <a:ext cx="1008857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mbria"/>
              </a:rPr>
              <a:t>30 minutos: los primeros 15 para la parte 1 y los siguientes 15 para la parte 2. En el minuto 25 escojan quién expone.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Mis dos preguntas en las salas: ¿qué decisión ayuda a tomar esta vista? y ¿quién va a estar molesto con su decisión, y con razón? · La herramienta de escenarios no deja cerrar la decisión sin la renuncia: https://cesaravegaf312.github.io/AREM-S2_Modelado_y_Decision/interactivos/atam_escenarios_interactivo.html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PARA TENER AL LADO DURANTE EL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Cómo se llena mal y cómo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920238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Campo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572768"/>
            <a:ext cx="2834638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6276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Así 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572768"/>
            <a:ext cx="3657598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16276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Así sí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572768"/>
            <a:ext cx="2404870" cy="3657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627632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Por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192023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9339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Nombre de la vista · F-13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938528"/>
            <a:ext cx="283463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993392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A3A2A"/>
                </a:solidFill>
                <a:latin typeface="Calibri"/>
              </a:rPr>
              <a:t>«Vista de aplicaciones»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938528"/>
            <a:ext cx="365759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993392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F5A3A"/>
                </a:solidFill>
                <a:latin typeface="Calibri"/>
              </a:rPr>
              <a:t>«Qué aplicaciones quedan huérfanas si apagamos HIS-NORTE»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938528"/>
            <a:ext cx="2404870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93392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El primero es una categoría; el segundo dice qué se está mirando.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596896"/>
            <a:ext cx="1920238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65176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Decisión que habilita · F-13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2596896"/>
            <a:ext cx="2834638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65176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A3A2A"/>
                </a:solidFill>
                <a:latin typeface="Calibri"/>
              </a:rPr>
              <a:t>«Entender la arquitectura»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2596896"/>
            <a:ext cx="3657598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2651760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F5A3A"/>
                </a:solidFill>
                <a:latin typeface="Calibri"/>
              </a:rPr>
              <a:t>«Alcance y orden de la migración»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596896"/>
            <a:ext cx="2404870" cy="65836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651760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Si al borrar la vista no queda ninguna decisión sin sustento, la vista sobra.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255264"/>
            <a:ext cx="1920238" cy="62179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310128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La costura · F-13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3255264"/>
            <a:ext cx="2834638" cy="62179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3310128"/>
            <a:ext cx="2651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A3A2A"/>
                </a:solidFill>
                <a:latin typeface="Calibri"/>
              </a:rPr>
              <a:t>Marcada encima de HIS-NORTE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3255264"/>
            <a:ext cx="3657598" cy="62179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3310128"/>
            <a:ext cx="34747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F5A3A"/>
                </a:solidFill>
                <a:latin typeface="Calibri"/>
              </a:rPr>
              <a:t>En el índice de pacientes que se pone entre los dos sistemas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255264"/>
            <a:ext cx="2404870" cy="62179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310128"/>
            <a:ext cx="22219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Sobre el heredado las dos alternativas se ven iguales: no hay nada que comparar.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3877056"/>
            <a:ext cx="1920238" cy="62179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93192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Medida de respuesta · F-14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3877056"/>
            <a:ext cx="2834638" cy="62179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931920"/>
            <a:ext cx="2651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A3A2A"/>
                </a:solidFill>
                <a:latin typeface="Calibri"/>
              </a:rPr>
              <a:t>«El sistema debe ser rápido»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0680" y="3877056"/>
            <a:ext cx="3657598" cy="62179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3931920"/>
            <a:ext cx="34747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F5A3A"/>
                </a:solidFill>
                <a:latin typeface="Calibri"/>
              </a:rPr>
              <a:t>«p95 ≤ 1,5 s con 300 consultas concurrentes», en pico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3877056"/>
            <a:ext cx="2404870" cy="62179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931920"/>
            <a:ext cx="22219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Sin cifra, sin unidad y sin pico no se puede incumplir, así que no obliga a nada.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498848"/>
            <a:ext cx="192023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55371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Renuncia · F-16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4498848"/>
            <a:ext cx="283463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4553712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A3A2A"/>
                </a:solidFill>
                <a:latin typeface="Calibri"/>
              </a:rPr>
              <a:t>«Perdemos algo de rendimiento»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40680" y="4498848"/>
            <a:ext cx="3657598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32120" y="4553712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F5A3A"/>
                </a:solidFill>
                <a:latin typeface="Calibri"/>
              </a:rPr>
              <a:t>«Renunciamos a la historia única real; vale 120 h-persona al mes; le duele a admisiones»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4498848"/>
            <a:ext cx="2404870" cy="658366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4553712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Sin cuánto vale y a quién le duele, no evaluaron: describieron.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5157216"/>
            <a:ext cx="1920238" cy="74980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212080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1424B"/>
                </a:solidFill>
                <a:latin typeface="Calibri"/>
              </a:rPr>
              <a:t>Patrón y deuda · F-17 y F-18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06040" y="5157216"/>
            <a:ext cx="2834638" cy="74980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97480" y="5212080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A3A2A"/>
                </a:solidFill>
                <a:latin typeface="Calibri"/>
              </a:rPr>
              <a:t>«Eventos, porque es lo moderno» · «se mejorará más adelante»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5157216"/>
            <a:ext cx="3657598" cy="74980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32120" y="5212080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1F5A3A"/>
                </a:solidFill>
                <a:latin typeface="Calibri"/>
              </a:rPr>
              <a:t>«Eventos, porque sostienen el escenario de evolubilidad» · «refinanciar: aislar HIS-NORTE detrás de un adaptador»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5157216"/>
            <a:ext cx="2404870" cy="749806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89720" y="5212080"/>
            <a:ext cx="22219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1424B"/>
                </a:solidFill>
                <a:latin typeface="Calibri"/>
              </a:rPr>
              <a:t>El patrón se justifica contra un escenario declarado, y solo hay tres estrategias de deuda.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Cada campo tiene una regla que lo invalida. Están todas en el documento de instrumentos, formato por formato.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PUESTA EN COMÚN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Dos grupos muestran; dos correcciones para todos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5295747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8308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La vista que es un inventario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12264"/>
            <a:ext cx="5295747" cy="250545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40280"/>
            <a:ext cx="4966563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Veinte o treinta elementos del mismo tipo, sin jerarquía y sin relaciones que digan algo.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Síntoma para reconocerla solos: si al agregarle un elemento más no cambia de significado, es un inventario. Una vista pierde sentido cuando le quitan un elemento.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91640"/>
            <a:ext cx="5295747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78308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La costura en el lugar equivocado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12264"/>
            <a:ext cx="5295747" cy="250545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240280"/>
            <a:ext cx="4966563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Puesta encima del sistema heredado, como si la decisión fuera qué hacer con el viejo.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31424B"/>
                </a:solidFill>
                <a:latin typeface="Calibri"/>
              </a:rPr>
              <a:t>Casi nunca lo es: está en la capa que ustedes construyen alrededor. El legado no se toca en esta fase, y hay que convivir con él 18 meses.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92040"/>
            <a:ext cx="10820095" cy="8229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4748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Un grupo muestra una vista —actor, interés y decisión, sin explicar el dibujo— y otro lee su renuncia completa, con las tres partes.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Si la respuesta a «¿a quién le duele?» es «a nadie», no hay trade-off y hay que volver a las alternativas.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CÓMO SE VERIFICA SEIS MESES DESPUÉS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Del escenario de calidad a la función de aptitud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66928" cy="86868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909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2728" y="1645920"/>
            <a:ext cx="10253167" cy="8686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755648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C2B33"/>
                </a:solidFill>
                <a:latin typeface="Calibri"/>
              </a:rPr>
              <a:t>Escenario · F-14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Un número y un umbral aprobado por negocio. Sin eso, no hay nada que verificar.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33472"/>
            <a:ext cx="566928" cy="86868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666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2633472"/>
            <a:ext cx="10253167" cy="8686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743200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C2B33"/>
                </a:solidFill>
                <a:latin typeface="Calibri"/>
              </a:rPr>
              <a:t>Instrumentación · OpenTelemetry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Estándar de facto: graduó en la CNCF el 21 de mayo de 2026 y sus convenciones ya cubren componentes de IA generativa.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621024"/>
            <a:ext cx="566928" cy="868680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541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621024"/>
            <a:ext cx="10253167" cy="868680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730752"/>
            <a:ext cx="98142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C2B33"/>
                </a:solidFill>
                <a:latin typeface="Calibri"/>
              </a:rPr>
              <a:t>Función de aptitud · fitness function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Una prueba que corre sola y falla cuando la arquitectura se desvía de lo que se decidió. En la Unidad 3 es gobierno; en la Unidad 4, tablero.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00600"/>
            <a:ext cx="10820095" cy="86868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956048"/>
            <a:ext cx="10088575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Un escenario que solo se verifica preguntándole a alguien si le parece que va rápido es una declaración de intenciones con formato de requisito.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Por eso el F-14 tiene una columna que el método original no pide: cómo se verifica. Hoy basta con que no quede vacía. · Ford, Parsons y Kua (2017).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MAPA DE LA ACTIVIDAD 2.2 · LA ENTREGA Y SU RÚBRICA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Qué se entrega, y de dónde sale cada sección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3931918" cy="53035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3749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Lo que pide la actividad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1554480"/>
            <a:ext cx="1920238" cy="53035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609344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Criterio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554480"/>
            <a:ext cx="2377438" cy="53035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09344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Sección del informe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1554480"/>
            <a:ext cx="1417318" cy="53035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609344"/>
            <a:ext cx="12344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Formato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554480"/>
            <a:ext cx="1170430" cy="53035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1609344"/>
            <a:ext cx="98755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Cuándo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084832"/>
            <a:ext cx="393191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139696"/>
            <a:ext cx="3749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4 vistas ArchiMate, con 5 elementos o más, relaciones y decisiones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084832"/>
            <a:ext cx="192023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13969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Vistas · 2,0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084832"/>
            <a:ext cx="237743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139696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2 · Vistas ArchiMate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2084832"/>
            <a:ext cx="141731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139696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F-13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2084832"/>
            <a:ext cx="1170430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2139696"/>
            <a:ext cx="9875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En clase, parte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615184"/>
            <a:ext cx="393191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670048"/>
            <a:ext cx="3749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2 alternativas con ATAM: 3 escenarios o más, árbol de utilidad, riesgos y sensibilidad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615184"/>
            <a:ext cx="192023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2670048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ATAM · 1,5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615184"/>
            <a:ext cx="237743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670048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3.1 a 3.5 · Evaluación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2615184"/>
            <a:ext cx="141731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2670048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F-14, F-15, F-16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32720" y="2615184"/>
            <a:ext cx="1170430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0" y="2670048"/>
            <a:ext cx="9875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Parte 2 · F-15 fuera de clase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145536"/>
            <a:ext cx="393191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200400"/>
            <a:ext cx="3749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Trade-offs: qué se gana y qué se sacrifica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3145536"/>
            <a:ext cx="192023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200400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ATAM · 1,5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3145536"/>
            <a:ext cx="237743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200400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3.6 y 3.7 · Renuncia y decisión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3145536"/>
            <a:ext cx="141731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3200400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F-16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3145536"/>
            <a:ext cx="1170430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3200400"/>
            <a:ext cx="9875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En clase, parte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3675888"/>
            <a:ext cx="393191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3730752"/>
            <a:ext cx="3749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Estrategia de integración representada y justificada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3675888"/>
            <a:ext cx="192023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3730752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Integración y deuda · 1,0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3675888"/>
            <a:ext cx="237743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3730752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4 · Estrategia de integración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15400" y="3675888"/>
            <a:ext cx="141731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3730752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F-17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3675888"/>
            <a:ext cx="1170430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60" y="3730752"/>
            <a:ext cx="9875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Fuera de clase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4206240"/>
            <a:ext cx="393191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4261104"/>
            <a:ext cx="3749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Deuda arquitectónica con 2 estrategias de gestión o más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17720" y="4206240"/>
            <a:ext cx="192023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9160" y="426110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Integración y deuda · 1,0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60" y="4206240"/>
            <a:ext cx="237743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4261104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5 · Deuda arquitectónica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15400" y="4206240"/>
            <a:ext cx="1417318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6840" y="4261104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F-18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332720" y="4206240"/>
            <a:ext cx="1170430" cy="530350"/>
          </a:xfrm>
          <a:prstGeom prst="rect">
            <a:avLst/>
          </a:prstGeom>
          <a:solidFill>
            <a:srgbClr val="EFF2F3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24160" y="4261104"/>
            <a:ext cx="9875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Fuera de clase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4736592"/>
            <a:ext cx="393191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" y="4791456"/>
            <a:ext cx="3749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31424B"/>
                </a:solidFill>
                <a:latin typeface="Calibri"/>
              </a:rPr>
              <a:t>Narrativa integrada y APA 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4736592"/>
            <a:ext cx="192023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09160" y="4791456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Calidad documental · 0,5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37960" y="4736592"/>
            <a:ext cx="237743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29400" y="4791456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1 y 6 · Contexto y conclusiones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15400" y="4736592"/>
            <a:ext cx="1417318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06840" y="4791456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F-20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332720" y="4736592"/>
            <a:ext cx="1170430" cy="530350"/>
          </a:xfrm>
          <a:prstGeom prst="rect">
            <a:avLst/>
          </a:prstGeom>
          <a:solidFill>
            <a:srgbClr val="FFFFFF"/>
          </a:solidFill>
          <a:ln>
            <a:solidFill>
              <a:srgbClr val="CF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24160" y="4791456"/>
            <a:ext cx="9875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31424B"/>
                </a:solidFill>
                <a:latin typeface="Calibri"/>
              </a:rPr>
              <a:t>Antes de subir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" y="5358384"/>
            <a:ext cx="10820095" cy="621792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1560" y="5513832"/>
            <a:ext cx="1008857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mbria"/>
              </a:rPr>
              <a:t>Lo que se sube son los diagramas y el informe. Los formatos no se suben: son el borrador de las secciones. El F-20 se pasa antes de subir.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El mapa completo, con la rúbrica textual y el informe de ejemplo, está en el repositorio de la sesión.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CIERRE · QUÉ SIGUE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Salen con la mitad difícil hecha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295747" cy="420624"/>
          </a:xfrm>
          <a:prstGeom prst="rect">
            <a:avLst/>
          </a:prstGeom>
          <a:solidFill>
            <a:srgbClr val="4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Lo que se llevan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66544"/>
            <a:ext cx="5295747" cy="259689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94560"/>
            <a:ext cx="4966563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Cuatro vistas con su actor y su interés declarados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Tres escenarios con número, umbral y forma de verificarlos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Dos alternativas viables con la renuncia escrita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7A82"/>
                </a:solidFill>
                <a:latin typeface="Calibri"/>
              </a:rPr>
              <a:t>Es el borrador de las secciones 2 y 3: 3,5 de los 5,0. Y es la mitad que no se puede copiar de internet.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45920"/>
            <a:ext cx="5295747" cy="420624"/>
          </a:xfrm>
          <a:prstGeom prst="rect">
            <a:avLst/>
          </a:prstGeom>
          <a:solidFill>
            <a:srgbClr val="C2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739" y="1737360"/>
            <a:ext cx="49665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mbria"/>
              </a:rPr>
              <a:t>Lo que falta, fuera de clase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66544"/>
            <a:ext cx="5295747" cy="2596896"/>
          </a:xfrm>
          <a:prstGeom prst="rect">
            <a:avLst/>
          </a:prstGeom>
          <a:solidFill>
            <a:srgbClr val="EF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2194560"/>
            <a:ext cx="4966563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El F-15, el árbol de utilidad, y el F-17 y el F-18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Las cuatro vistas dibujadas en Archi, desde las filas del F-13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31424B"/>
                </a:solidFill>
                <a:latin typeface="Calibri"/>
              </a:rPr>
              <a:t>El mapa mental individual de la Actividad 2.1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6B7A82"/>
                </a:solidFill>
                <a:latin typeface="Calibri"/>
              </a:rPr>
              <a:t>Antes de subir, el F-20 condición por condición.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92040"/>
            <a:ext cx="10820095" cy="82296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47488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mbria"/>
              </a:rPr>
              <a:t>Si esta semana descubren que sus dos alternativas no eran comparables, escríbanme: eso se corrige en veinte minutos ahora, y no se corrige en el informe.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A82"/>
                </a:solidFill>
                <a:latin typeface="Calibri"/>
              </a:rPr>
              <a:t>Todo está en https://cesaravegaf312.github.io/AREM-S2_Modelado_y_Decision · Nos vemos en la Unidad 3, donde la pregunta es quién decide y cómo se verifica que lo decidido se respeta.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C2622C"/>
                </a:solidFill>
                <a:latin typeface="Calibri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C2B33"/>
                </a:solidFill>
                <a:latin typeface="Cambria"/>
              </a:rPr>
              <a:t>Fuentes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Bass, L., Clements, P., &amp; Kazman, R. (2021). *Software architecture in practice* (4.ª ed.). Addison-Wesley.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Brown, S. (2026). *The C4 model for visualising software architecture*. https://c4model.com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Cloud Native Computing Foundation. (2026, 21 de mayo). *OpenTelemetry graduates*. https://www.cncf.io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Ford, N., Parsons, R., &amp; Kua, P. (2017). *Building evolutionary architectures*. O'Reilly.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Fowler, M. (2004). *StranglerFigApplication*. https://martinfowler.com/bliki/StranglerFigApplication.html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Hohpe, G., &amp; Woolf, B. (2003). *Enterprise integration patterns*. Addison-Wesley.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International Organization for Standardization. (2022). *ISO/IEC/IEEE 42010:2022. Software, systems and enterprise — Architecture description*.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Kazman, R., Klein, M., &amp; Clements, P. (2000). *ATAM: Method for architecture evaluation* (CMU/SEI-2000-TR-004). Software Engineering Institute.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Lankhorst, M. (2017). *Enterprise architecture at work* (4.ª ed.). Springer. https://doi.org/10.1007/978-3-662-53933-0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The Open Group. (2022). *ArchiMate® 3.2 Specification* (C227).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The Open Group. (2022). *TOGAF® Standard, 10th Edition* (C220).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The Open Group. (2026, 27 de abril). *ArchiMate® 4 Specification* (C260). https://publications.opengroup.org/c260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1424B"/>
                </a:solidFill>
                <a:latin typeface="Calibri"/>
              </a:rPr>
              <a:t>Vega Fernández, C. A. (2026). *Caso de respaldo: Red Salud Andina* (organización simulada). Universidad de La Sabana.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